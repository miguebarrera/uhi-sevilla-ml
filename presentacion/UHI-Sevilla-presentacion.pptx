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Outfit ExtraBold"/>
      <p:bold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Outfit SemiBold"/>
      <p:regular r:id="rId25"/>
      <p:bold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ExtraBold-bold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utfitSemiBold-bold.fntdata"/><Relationship Id="rId25" Type="http://schemas.openxmlformats.org/officeDocument/2006/relationships/font" Target="fonts/OutfitSemiBold-regular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c125581c0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c125581c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c125581c0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c125581c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2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3.png"/><Relationship Id="rId13" Type="http://schemas.openxmlformats.org/officeDocument/2006/relationships/image" Target="../media/image20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Relationship Id="rId14" Type="http://schemas.openxmlformats.org/officeDocument/2006/relationships/image" Target="../media/image24.png"/><Relationship Id="rId5" Type="http://schemas.openxmlformats.org/officeDocument/2006/relationships/image" Target="../media/image31.png"/><Relationship Id="rId6" Type="http://schemas.openxmlformats.org/officeDocument/2006/relationships/image" Target="../media/image17.png"/><Relationship Id="rId7" Type="http://schemas.openxmlformats.org/officeDocument/2006/relationships/image" Target="../media/image10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testworkflows-830d7.web.app/" TargetMode="External"/><Relationship Id="rId5" Type="http://schemas.openxmlformats.org/officeDocument/2006/relationships/image" Target="../media/image30.png"/><Relationship Id="rId6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280648" y="1650801"/>
            <a:ext cx="5630703" cy="17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75" u="none" cap="none" strike="noStrike">
                <a:solidFill>
                  <a:srgbClr val="0F172A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UHI-Predictor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375" u="none" cap="none" strike="noStrike">
                <a:solidFill>
                  <a:srgbClr val="EA580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Sevilla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967162" y="3622476"/>
            <a:ext cx="42576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Urban Heat Island Predictor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452937" y="4729162"/>
            <a:ext cx="3286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De: Miguel Ángel Barrera Muñoz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859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57250" y="12334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Calor Extremo: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Sevilla soporta episodios críticos durante el estío, agravados por la Isla de Calor Urbano (ICU).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23860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Causas Estructurales: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Alta densidad constructiva, asfaltado masivo y escasez de cubiertas vegetales retienen y emiten más radiación que la periferia.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35385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Utilidad del Proyecto: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Desarrollo de un simulador interactivo para planificadores urbanos, administración y ciudadanía.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4691062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Impacto Cuantificable: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Permite evaluar intervenciones sostenibles (reforestación, modificación de materiales) y calcular los grados exactos de enfriamiento logrados.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859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1119187"/>
            <a:ext cx="219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271712"/>
            <a:ext cx="219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3424237"/>
            <a:ext cx="219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4576762"/>
            <a:ext cx="2190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El Reto de la </a:t>
            </a:r>
            <a:r>
              <a:rPr b="0" i="0" lang="en-US" sz="3300" u="none" cap="none" strike="noStrike">
                <a:solidFill>
                  <a:srgbClr val="EA580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Isla de Calor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iero añadadir un diagrama que defina el flujo siguiente&#10;Descarga de datos -&gt; Subida a S3 de AWS -&gt; Transformacion de los datos -&gt; Tratamiento de los datos -&gt; Entrenamiento del modelo" id="109" name="Google Shape;10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95375"/>
            <a:ext cx="3492549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095375"/>
            <a:ext cx="3492549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095375"/>
            <a:ext cx="3492549" cy="5191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4859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66775" y="24860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Google Earth Engine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296227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Sentinel-2: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Cálculo de índices NDVI y NDBI, integrando bandas ópticas B2, B4, B8, B11 y B12.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43243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Landsat 8: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Extracción de la Temperatura Superficial (LST). Todo exportado como GeoTIFF multibanda.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14859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4645074" y="24860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OpenStreetMap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45074" y="29622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Extracción mediante Overpass API para mapear la infraestructura física: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5074" y="4019550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 Viaria: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motorway, trunk, primary, secondary.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45074" y="477202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Edificaciones: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Centro geométrico y altura estimada para modelar la morfología.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14859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423374" y="2486025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Arbolado Urbano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23374" y="296227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Datos oficiales procedentes del inventario municipal del Ayuntamiento de Sevilla.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423374" y="40195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Incluye el ID único, especie botánica y coordenadas exactas para evaluar la mitigación térmica local.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6325" y="16954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30812" y="169545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90061" y="1695450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Fuentes de Datos Integradas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54781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1638300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Land Surface Temperature (LST)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11455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diferencia de la temperatura del aire (que se mezcla por convección), la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LST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mide la emisión térmica directa de los materiales que conforman la ciudad (tejados, asfalto, copas de árboles).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34766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 la variable que nuestro modelo XGBoost intentará predecir y optimizar.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4371975"/>
            <a:ext cx="5238750" cy="13716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809625" y="4562475"/>
            <a:ext cx="4762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¿Por qué usar LST?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Permite capturar variaciones térmicas a nivel micro-local. Un parque puede estar a 32ºC de LST mientras que la calle asfaltada contigua irradia a 50ºC. El objetivo de las simulaciones será reducir este valor predictivo.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4371975"/>
            <a:ext cx="57150" cy="1371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547812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 Variable Objetivo: </a:t>
            </a:r>
            <a:r>
              <a:rPr b="0" i="0" lang="en-US" sz="3300" u="none" cap="none" strike="noStrike">
                <a:solidFill>
                  <a:srgbClr val="EA580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LST Target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title="sevilla_l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200" y="0"/>
            <a:ext cx="890359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95375"/>
            <a:ext cx="5238750" cy="5413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095375"/>
            <a:ext cx="5238750" cy="541362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866775" y="1390650"/>
            <a:ext cx="48806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Biofísica y Cobertura Terrestre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866775" y="1771650"/>
            <a:ext cx="46482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6677025" y="1390650"/>
            <a:ext cx="488061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Morfología y Tejido Vial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6677025" y="1771650"/>
            <a:ext cx="46482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229171" y="1981200"/>
            <a:ext cx="4285803" cy="8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NDVI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Índice de vegetación (evapotranspiración y fotosíntesis).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247775" y="2965995"/>
            <a:ext cx="3705225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NDBI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Índice de suelo edificado (asfalto, hormigón).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247775" y="3676501"/>
            <a:ext cx="3495675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Albedo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Nivel de reflectancia de la superficie al sol.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216372" y="4387006"/>
            <a:ext cx="4298602" cy="8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Tree_Density_50m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Densidad de arbolado (sombreado directo en radio de 50m).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234975" y="5371802"/>
            <a:ext cx="4279999" cy="8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D2W_meters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Distancia a cuerpos de agua (río Guadalquivir, canales).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058025" y="1981200"/>
            <a:ext cx="3800475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Building_Density_100m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Densidad constructiva en radio de 100 metros.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058025" y="2691705"/>
            <a:ext cx="394335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Avg_Building_Height_100m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Altura media de edificios (efecto cañón urbano).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058025" y="3402210"/>
            <a:ext cx="3514725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D2R_HighCapacity_m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Distancia a vías de alta capacidad/autovías.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058025" y="4112716"/>
            <a:ext cx="3505200" cy="567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D2R_Urban_m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Distancia a red de calles urbanas estándar.</a:t>
            </a:r>
            <a:endParaRPr/>
          </a:p>
        </p:txBody>
      </p:sp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0145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9933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70983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4420344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5405139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77025" y="20145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77025" y="272504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77025" y="34355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677025" y="4146053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Las 9 Variables </a:t>
            </a:r>
            <a:r>
              <a:rPr b="0" i="0" lang="en-US" sz="3300" u="none" cap="none" strike="noStrike">
                <a:solidFill>
                  <a:srgbClr val="0EA5E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Predictoras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6" cy="6372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5286375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71675"/>
            <a:ext cx="52863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181350"/>
            <a:ext cx="52863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4391025"/>
            <a:ext cx="52863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1047750" y="2171700"/>
            <a:ext cx="455056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Robustez y Precisión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047750" y="2743200"/>
            <a:ext cx="43338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algoritmo XGBoost ha demostrado una capacidad superior para capturar las interacciones no lineales entre las 9 variables de morfología urbana, cobertura y distancia.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1047750" y="4152900"/>
            <a:ext cx="43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 </a:t>
            </a:r>
            <a:r>
              <a:rPr i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Además</a:t>
            </a:r>
            <a:r>
              <a:rPr i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 un peso solo de 23MB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677025" y="2219325"/>
            <a:ext cx="1695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EA580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0.832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9563100" y="2246114"/>
            <a:ext cx="1714500" cy="470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COEFICIENTE R² SCORE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677025" y="3429000"/>
            <a:ext cx="1857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EA580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1.633°C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0020300" y="3573363"/>
            <a:ext cx="1257300" cy="23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ERROR RMSE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677025" y="4638675"/>
            <a:ext cx="17526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25" u="none" cap="none" strike="noStrike">
                <a:solidFill>
                  <a:srgbClr val="EA580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1.149°C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9563100" y="4665464"/>
            <a:ext cx="1714500" cy="470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ERROR MEDIO (MAE)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Modelo Ganador: </a:t>
            </a:r>
            <a:r>
              <a:rPr b="0" i="0" lang="en-US" sz="3300" u="none" cap="none" strike="noStrike">
                <a:solidFill>
                  <a:srgbClr val="0EA5E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XGBoost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2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0" y="4347120"/>
            <a:ext cx="381000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4062412" y="2063055"/>
            <a:ext cx="40671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EA580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DEMO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2200275" y="3491805"/>
            <a:ext cx="77914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Prueba el simulador interactivo de intervenciones sostenibles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14137" y="2405530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