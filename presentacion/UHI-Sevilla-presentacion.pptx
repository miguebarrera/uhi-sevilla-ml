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6858000" cx="12192000"/>
  <p:notesSz cx="6858000" cy="9144000"/>
  <p:embeddedFontLst>
    <p:embeddedFont>
      <p:font typeface="Inter SemiBold"/>
      <p:regular r:id="rId14"/>
      <p:bold r:id="rId15"/>
      <p:italic r:id="rId16"/>
      <p:boldItalic r:id="rId17"/>
    </p:embeddedFont>
    <p:embeddedFont>
      <p:font typeface="Outfit ExtraBold"/>
      <p:bold r:id="rId18"/>
    </p:embeddedFont>
    <p:embeddedFont>
      <p:font typeface="Inter"/>
      <p:regular r:id="rId19"/>
      <p:bold r:id="rId20"/>
      <p:italic r:id="rId21"/>
      <p:boldItalic r:id="rId22"/>
    </p:embeddedFont>
    <p:embeddedFont>
      <p:font typeface="Outfit SemiBold"/>
      <p:regular r:id="rId23"/>
      <p:bold r:id="rId24"/>
    </p:embeddedFont>
    <p:embeddedFont>
      <p:font typeface="Inter Medium"/>
      <p:regular r:id="rId25"/>
      <p:bold r:id="rId26"/>
      <p:italic r:id="rId27"/>
      <p:boldItalic r:id="rId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-bold.fntdata"/><Relationship Id="rId22" Type="http://schemas.openxmlformats.org/officeDocument/2006/relationships/font" Target="fonts/Inter-boldItalic.fntdata"/><Relationship Id="rId21" Type="http://schemas.openxmlformats.org/officeDocument/2006/relationships/font" Target="fonts/Inter-italic.fntdata"/><Relationship Id="rId24" Type="http://schemas.openxmlformats.org/officeDocument/2006/relationships/font" Target="fonts/OutfitSemiBold-bold.fntdata"/><Relationship Id="rId23" Type="http://schemas.openxmlformats.org/officeDocument/2006/relationships/font" Target="fonts/OutfitSemiBold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InterMedium-bold.fntdata"/><Relationship Id="rId25" Type="http://schemas.openxmlformats.org/officeDocument/2006/relationships/font" Target="fonts/InterMedium-regular.fntdata"/><Relationship Id="rId28" Type="http://schemas.openxmlformats.org/officeDocument/2006/relationships/font" Target="fonts/InterMedium-boldItalic.fntdata"/><Relationship Id="rId27" Type="http://schemas.openxmlformats.org/officeDocument/2006/relationships/font" Target="fonts/InterMedium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font" Target="fonts/InterSemiBold-bold.fntdata"/><Relationship Id="rId14" Type="http://schemas.openxmlformats.org/officeDocument/2006/relationships/font" Target="fonts/InterSemiBold-regular.fntdata"/><Relationship Id="rId17" Type="http://schemas.openxmlformats.org/officeDocument/2006/relationships/font" Target="fonts/InterSemiBold-boldItalic.fntdata"/><Relationship Id="rId16" Type="http://schemas.openxmlformats.org/officeDocument/2006/relationships/font" Target="fonts/InterSemiBold-italic.fntdata"/><Relationship Id="rId19" Type="http://schemas.openxmlformats.org/officeDocument/2006/relationships/font" Target="fonts/Inter-regular.fntdata"/><Relationship Id="rId18" Type="http://schemas.openxmlformats.org/officeDocument/2006/relationships/font" Target="fonts/OutfitExtraBold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8.pn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8.png"/><Relationship Id="rId4" Type="http://schemas.openxmlformats.org/officeDocument/2006/relationships/image" Target="../media/image7.png"/><Relationship Id="rId5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3.png"/><Relationship Id="rId11" Type="http://schemas.openxmlformats.org/officeDocument/2006/relationships/image" Target="../media/image2.png"/><Relationship Id="rId10" Type="http://schemas.openxmlformats.org/officeDocument/2006/relationships/image" Target="../media/image21.png"/><Relationship Id="rId12" Type="http://schemas.openxmlformats.org/officeDocument/2006/relationships/image" Target="../media/image29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11.png"/><Relationship Id="rId7" Type="http://schemas.openxmlformats.org/officeDocument/2006/relationships/image" Target="../media/image15.png"/><Relationship Id="rId8" Type="http://schemas.openxmlformats.org/officeDocument/2006/relationships/image" Target="../media/image1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3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8.png"/><Relationship Id="rId4" Type="http://schemas.openxmlformats.org/officeDocument/2006/relationships/image" Target="../media/image4.png"/><Relationship Id="rId5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image" Target="../media/image30.png"/><Relationship Id="rId10" Type="http://schemas.openxmlformats.org/officeDocument/2006/relationships/image" Target="../media/image28.png"/><Relationship Id="rId13" Type="http://schemas.openxmlformats.org/officeDocument/2006/relationships/image" Target="../media/image25.png"/><Relationship Id="rId1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png"/><Relationship Id="rId4" Type="http://schemas.openxmlformats.org/officeDocument/2006/relationships/image" Target="../media/image16.png"/><Relationship Id="rId9" Type="http://schemas.openxmlformats.org/officeDocument/2006/relationships/image" Target="../media/image22.png"/><Relationship Id="rId14" Type="http://schemas.openxmlformats.org/officeDocument/2006/relationships/image" Target="../media/image24.png"/><Relationship Id="rId5" Type="http://schemas.openxmlformats.org/officeDocument/2006/relationships/image" Target="../media/image13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image" Target="../media/image1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Relationship Id="rId4" Type="http://schemas.openxmlformats.org/officeDocument/2006/relationships/image" Target="../media/image20.png"/><Relationship Id="rId5" Type="http://schemas.openxmlformats.org/officeDocument/2006/relationships/image" Target="../media/image23.png"/><Relationship Id="rId6" Type="http://schemas.openxmlformats.org/officeDocument/2006/relationships/image" Target="../media/image33.png"/><Relationship Id="rId7" Type="http://schemas.openxmlformats.org/officeDocument/2006/relationships/image" Target="../media/image3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8.png"/><Relationship Id="rId4" Type="http://schemas.openxmlformats.org/officeDocument/2006/relationships/hyperlink" Target="https://testworkflows-830d7.web.app/" TargetMode="External"/><Relationship Id="rId5" Type="http://schemas.openxmlformats.org/officeDocument/2006/relationships/image" Target="../media/image27.png"/><Relationship Id="rId6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571500"/>
            <a:ext cx="11049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3280648" y="1650801"/>
            <a:ext cx="5630703" cy="1781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9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375" u="none" cap="none" strike="noStrike">
                <a:solidFill>
                  <a:srgbClr val="0F172A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UHI-Predictor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6375" u="none" cap="none" strike="noStrike">
                <a:solidFill>
                  <a:srgbClr val="EA580C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Sevilla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3967162" y="3622476"/>
            <a:ext cx="4257675" cy="48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Urban Heat Island Predictor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4452937" y="4729162"/>
            <a:ext cx="3286125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rPr>
              <a:t>De: Miguel Ángel Barrera Muñoz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3" name="Google Shape;9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4" name="Google Shape;94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1750" y="1785937"/>
            <a:ext cx="523875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857250" y="1233487"/>
            <a:ext cx="4953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Calor Extremo: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Sevilla soporta episodios críticos durante el estío, agravados por la Isla de Calor Urbano (ICU).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857250" y="2386012"/>
            <a:ext cx="4953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Causas Estructurales: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Alta densidad constructiva, asfaltado masivo y escasez de cubiertas vegetales retienen y emiten más radiación que la periferia.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857250" y="3538537"/>
            <a:ext cx="4953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Utilidad del Proyecto: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Desarrollo de un simulador interactivo para planificadores urbanos, administración y ciudadanía.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857250" y="4691062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Impacto Cuantificable: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Permite evaluar intervenciones sostenibles (reforestación, modificación de materiales) y calcular los grados exactos de enfriamiento logrados.</a:t>
            </a:r>
            <a:endParaRPr/>
          </a:p>
        </p:txBody>
      </p:sp>
      <p:pic>
        <p:nvPicPr>
          <p:cNvPr descr="image.png" id="99" name="Google Shape;99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81750" y="1785937"/>
            <a:ext cx="523875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571500" y="1119187"/>
            <a:ext cx="2190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571500" y="2271712"/>
            <a:ext cx="2190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571500" y="3424237"/>
            <a:ext cx="2190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571500" y="4576762"/>
            <a:ext cx="2190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000" u="none" cap="none" strike="noStrike">
                <a:solidFill>
                  <a:srgbClr val="EA580C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571500" y="571500"/>
            <a:ext cx="1160145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300" u="none" cap="none" strike="noStrike">
                <a:solidFill>
                  <a:srgbClr val="0F172A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El Reto de la </a:t>
            </a:r>
            <a:r>
              <a:rPr b="0" i="0" lang="en-US" sz="3300" u="none" cap="none" strike="noStrike">
                <a:solidFill>
                  <a:srgbClr val="EA580C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Isla de Calor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095375"/>
            <a:ext cx="3492549" cy="5191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1" name="Google Shape;111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1095375"/>
            <a:ext cx="3492549" cy="5191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2" name="Google Shape;112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1095375"/>
            <a:ext cx="3492549" cy="5191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3" name="Google Shape;113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66775" y="1485900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5"/>
          <p:cNvSpPr txBox="1"/>
          <p:nvPr/>
        </p:nvSpPr>
        <p:spPr>
          <a:xfrm>
            <a:off x="866775" y="2486025"/>
            <a:ext cx="3047099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E293B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Google Earth Engine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866775" y="2962275"/>
            <a:ext cx="2901999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Sentinel-2: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Cálculo de índices NDVI y NDBI, integrando bandas ópticas B2, B4, B8, B11 y B12.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866775" y="4324350"/>
            <a:ext cx="2901999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Landsat 8: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Extracción de la Temperatura Superficial (LST). Todo exportado como GeoTIFF multibanda.</a:t>
            </a:r>
            <a:endParaRPr/>
          </a:p>
        </p:txBody>
      </p:sp>
      <p:pic>
        <p:nvPicPr>
          <p:cNvPr descr="image.png" id="117" name="Google Shape;117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45074" y="1485900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/>
          <p:nvPr/>
        </p:nvSpPr>
        <p:spPr>
          <a:xfrm>
            <a:off x="4645074" y="2486025"/>
            <a:ext cx="3047099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E293B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OpenStreetMap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4645074" y="2962275"/>
            <a:ext cx="2901999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Extracción mediante Overpass API para mapear la infraestructura física: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4645074" y="4019550"/>
            <a:ext cx="2901999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Red Viaria: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motorway, trunk, primary, secondary.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4645074" y="4772025"/>
            <a:ext cx="2901999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Edificaciones: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Centro geométrico y altura estimada para modelar la morfología.</a:t>
            </a:r>
            <a:endParaRPr/>
          </a:p>
        </p:txBody>
      </p:sp>
      <p:pic>
        <p:nvPicPr>
          <p:cNvPr descr="image.png" id="122" name="Google Shape;122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23374" y="1485900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5"/>
          <p:cNvSpPr txBox="1"/>
          <p:nvPr/>
        </p:nvSpPr>
        <p:spPr>
          <a:xfrm>
            <a:off x="8423374" y="2486025"/>
            <a:ext cx="3047099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E293B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Arbolado Urbano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8423374" y="2962275"/>
            <a:ext cx="2901999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Datos oficiales procedentes del inventario municipal del Ayuntamiento de Sevilla.</a:t>
            </a:r>
            <a:endParaRPr/>
          </a:p>
        </p:txBody>
      </p:sp>
      <p:sp>
        <p:nvSpPr>
          <p:cNvPr id="125" name="Google Shape;125;p15"/>
          <p:cNvSpPr txBox="1"/>
          <p:nvPr/>
        </p:nvSpPr>
        <p:spPr>
          <a:xfrm>
            <a:off x="8423374" y="4019550"/>
            <a:ext cx="2901999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Incluye el ID único, especie botánica y coordenadas exactas para evaluar la mitigación térmica local.</a:t>
            </a:r>
            <a:endParaRPr/>
          </a:p>
        </p:txBody>
      </p:sp>
      <p:pic>
        <p:nvPicPr>
          <p:cNvPr descr="image.png" id="126" name="Google Shape;126;p1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76325" y="1695450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15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4830812" y="1695450"/>
            <a:ext cx="3905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8" name="Google Shape;128;p15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590061" y="1695450"/>
            <a:ext cx="42862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5"/>
          <p:cNvSpPr txBox="1"/>
          <p:nvPr/>
        </p:nvSpPr>
        <p:spPr>
          <a:xfrm>
            <a:off x="571500" y="571500"/>
            <a:ext cx="1160145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300" u="none" cap="none" strike="noStrike">
                <a:solidFill>
                  <a:srgbClr val="0F172A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Fuentes de Datos Integradas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4" name="Google Shape;134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6" title="sevilla_lt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44200" y="0"/>
            <a:ext cx="8903596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0" name="Google Shape;14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1" name="Google Shape;141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1750" y="1547812"/>
            <a:ext cx="5238750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7"/>
          <p:cNvSpPr txBox="1"/>
          <p:nvPr/>
        </p:nvSpPr>
        <p:spPr>
          <a:xfrm>
            <a:off x="571500" y="1638300"/>
            <a:ext cx="5500687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1E293B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Land Surface Temperature (LST)</a:t>
            </a: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571500" y="2114550"/>
            <a:ext cx="5238750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 diferencia de la temperatura del aire (que se mezcla por convección), la </a:t>
            </a:r>
            <a:r>
              <a:rPr b="1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LST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mide la emisión térmica directa de los materiales que conforman la ciudad (tejados, asfalto, copas de árboles).</a:t>
            </a:r>
            <a:endParaRPr/>
          </a:p>
        </p:txBody>
      </p:sp>
      <p:sp>
        <p:nvSpPr>
          <p:cNvPr id="144" name="Google Shape;144;p17"/>
          <p:cNvSpPr txBox="1"/>
          <p:nvPr/>
        </p:nvSpPr>
        <p:spPr>
          <a:xfrm>
            <a:off x="571500" y="3476625"/>
            <a:ext cx="523875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Es la variable que nuestro modelo XGBoost intentará predecir y optimizar.</a:t>
            </a:r>
            <a:endParaRPr/>
          </a:p>
        </p:txBody>
      </p:sp>
      <p:sp>
        <p:nvSpPr>
          <p:cNvPr id="145" name="Google Shape;145;p17"/>
          <p:cNvSpPr/>
          <p:nvPr/>
        </p:nvSpPr>
        <p:spPr>
          <a:xfrm>
            <a:off x="571500" y="4371975"/>
            <a:ext cx="5238750" cy="13716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7"/>
          <p:cNvSpPr txBox="1"/>
          <p:nvPr/>
        </p:nvSpPr>
        <p:spPr>
          <a:xfrm>
            <a:off x="809625" y="4562475"/>
            <a:ext cx="47625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¿Por qué usar LST?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Permite capturar variaciones térmicas a nivel micro-local. Un parque puede estar a 32ºC de LST mientras que la calle asfaltada contigua irradia a 50ºC. El objetivo de las simulaciones será reducir este valor predictivo.</a:t>
            </a:r>
            <a:endParaRPr/>
          </a:p>
        </p:txBody>
      </p:sp>
      <p:sp>
        <p:nvSpPr>
          <p:cNvPr id="147" name="Google Shape;147;p17"/>
          <p:cNvSpPr/>
          <p:nvPr/>
        </p:nvSpPr>
        <p:spPr>
          <a:xfrm>
            <a:off x="571500" y="4371975"/>
            <a:ext cx="57150" cy="13716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48" name="Google Shape;148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81750" y="1547812"/>
            <a:ext cx="5238750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7"/>
          <p:cNvSpPr txBox="1"/>
          <p:nvPr/>
        </p:nvSpPr>
        <p:spPr>
          <a:xfrm>
            <a:off x="571500" y="571500"/>
            <a:ext cx="1160145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300" u="none" cap="none" strike="noStrike">
                <a:solidFill>
                  <a:srgbClr val="0F172A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La Variable Objetivo: </a:t>
            </a:r>
            <a:r>
              <a:rPr b="0" i="0" lang="en-US" sz="3300" u="none" cap="none" strike="noStrike">
                <a:solidFill>
                  <a:srgbClr val="EA580C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LST Target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4" name="Google Shape;154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5" name="Google Shape;155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095375"/>
            <a:ext cx="5238750" cy="541362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6" name="Google Shape;156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81750" y="1095375"/>
            <a:ext cx="5238750" cy="5413623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8"/>
          <p:cNvSpPr txBox="1"/>
          <p:nvPr/>
        </p:nvSpPr>
        <p:spPr>
          <a:xfrm>
            <a:off x="866775" y="1390650"/>
            <a:ext cx="488061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EA5E9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Biofísica y Cobertura Terrestre</a:t>
            </a:r>
            <a:endParaRPr/>
          </a:p>
        </p:txBody>
      </p:sp>
      <p:sp>
        <p:nvSpPr>
          <p:cNvPr id="158" name="Google Shape;158;p18"/>
          <p:cNvSpPr/>
          <p:nvPr/>
        </p:nvSpPr>
        <p:spPr>
          <a:xfrm>
            <a:off x="866775" y="1771650"/>
            <a:ext cx="4648200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8"/>
          <p:cNvSpPr txBox="1"/>
          <p:nvPr/>
        </p:nvSpPr>
        <p:spPr>
          <a:xfrm>
            <a:off x="6677025" y="1390650"/>
            <a:ext cx="488061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EA5E9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Morfología y Tejido Vial</a:t>
            </a:r>
            <a:endParaRPr/>
          </a:p>
        </p:txBody>
      </p:sp>
      <p:sp>
        <p:nvSpPr>
          <p:cNvPr id="160" name="Google Shape;160;p18"/>
          <p:cNvSpPr/>
          <p:nvPr/>
        </p:nvSpPr>
        <p:spPr>
          <a:xfrm>
            <a:off x="6677025" y="1771650"/>
            <a:ext cx="4648200" cy="1905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8"/>
          <p:cNvSpPr txBox="1"/>
          <p:nvPr/>
        </p:nvSpPr>
        <p:spPr>
          <a:xfrm>
            <a:off x="1229171" y="1981200"/>
            <a:ext cx="4285803" cy="841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NDVI</a:t>
            </a:r>
            <a:r>
              <a:rPr b="0" i="0" lang="en-US" sz="13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Índice de vegetación (evapotranspiración y fotosíntesis).</a:t>
            </a:r>
            <a:endParaRPr/>
          </a:p>
        </p:txBody>
      </p:sp>
      <p:sp>
        <p:nvSpPr>
          <p:cNvPr id="162" name="Google Shape;162;p18"/>
          <p:cNvSpPr txBox="1"/>
          <p:nvPr/>
        </p:nvSpPr>
        <p:spPr>
          <a:xfrm>
            <a:off x="1247775" y="2965995"/>
            <a:ext cx="3705225" cy="567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NDBI</a:t>
            </a:r>
            <a:r>
              <a:rPr b="0" i="0" lang="en-US" sz="13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Índice de suelo edificado (asfalto, hormigón).</a:t>
            </a:r>
            <a:endParaRPr/>
          </a:p>
        </p:txBody>
      </p:sp>
      <p:sp>
        <p:nvSpPr>
          <p:cNvPr id="163" name="Google Shape;163;p18"/>
          <p:cNvSpPr txBox="1"/>
          <p:nvPr/>
        </p:nvSpPr>
        <p:spPr>
          <a:xfrm>
            <a:off x="1247775" y="3676501"/>
            <a:ext cx="3495675" cy="567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Albedo</a:t>
            </a:r>
            <a:r>
              <a:rPr b="0" i="0" lang="en-US" sz="13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Nivel de reflectancia de la superficie al sol.</a:t>
            </a:r>
            <a:endParaRPr/>
          </a:p>
        </p:txBody>
      </p:sp>
      <p:sp>
        <p:nvSpPr>
          <p:cNvPr id="164" name="Google Shape;164;p18"/>
          <p:cNvSpPr txBox="1"/>
          <p:nvPr/>
        </p:nvSpPr>
        <p:spPr>
          <a:xfrm>
            <a:off x="1216372" y="4387006"/>
            <a:ext cx="4298602" cy="841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Tree_Density_50m</a:t>
            </a:r>
            <a:r>
              <a:rPr b="0" i="0" lang="en-US" sz="13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Densidad de arbolado (sombreado directo en radio de 50m).</a:t>
            </a:r>
            <a:endParaRPr/>
          </a:p>
        </p:txBody>
      </p:sp>
      <p:sp>
        <p:nvSpPr>
          <p:cNvPr id="165" name="Google Shape;165;p18"/>
          <p:cNvSpPr txBox="1"/>
          <p:nvPr/>
        </p:nvSpPr>
        <p:spPr>
          <a:xfrm>
            <a:off x="1234975" y="5371802"/>
            <a:ext cx="4279999" cy="841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D2W_meters</a:t>
            </a:r>
            <a:r>
              <a:rPr b="0" i="0" lang="en-US" sz="13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Distancia a cuerpos de agua (río Guadalquivir, canales).</a:t>
            </a:r>
            <a:endParaRPr/>
          </a:p>
        </p:txBody>
      </p:sp>
      <p:sp>
        <p:nvSpPr>
          <p:cNvPr id="166" name="Google Shape;166;p18"/>
          <p:cNvSpPr txBox="1"/>
          <p:nvPr/>
        </p:nvSpPr>
        <p:spPr>
          <a:xfrm>
            <a:off x="7058025" y="1981200"/>
            <a:ext cx="3800475" cy="567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Building_Density_100m</a:t>
            </a:r>
            <a:r>
              <a:rPr b="0" i="0" lang="en-US" sz="13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Densidad constructiva en radio de 100 metros.</a:t>
            </a:r>
            <a:endParaRPr/>
          </a:p>
        </p:txBody>
      </p:sp>
      <p:sp>
        <p:nvSpPr>
          <p:cNvPr id="167" name="Google Shape;167;p18"/>
          <p:cNvSpPr txBox="1"/>
          <p:nvPr/>
        </p:nvSpPr>
        <p:spPr>
          <a:xfrm>
            <a:off x="7058025" y="2691705"/>
            <a:ext cx="3943350" cy="567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Avg_Building_Height_100m</a:t>
            </a:r>
            <a:r>
              <a:rPr b="0" i="0" lang="en-US" sz="13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Altura media de edificios (efecto cañón urbano).</a:t>
            </a:r>
            <a:endParaRPr/>
          </a:p>
        </p:txBody>
      </p:sp>
      <p:sp>
        <p:nvSpPr>
          <p:cNvPr id="168" name="Google Shape;168;p18"/>
          <p:cNvSpPr txBox="1"/>
          <p:nvPr/>
        </p:nvSpPr>
        <p:spPr>
          <a:xfrm>
            <a:off x="7058025" y="3402210"/>
            <a:ext cx="3514725" cy="567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D2R_HighCapacity_m</a:t>
            </a:r>
            <a:r>
              <a:rPr b="0" i="0" lang="en-US" sz="13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Distancia a vías de alta capacidad/autovías.</a:t>
            </a:r>
            <a:endParaRPr/>
          </a:p>
        </p:txBody>
      </p:sp>
      <p:sp>
        <p:nvSpPr>
          <p:cNvPr id="169" name="Google Shape;169;p18"/>
          <p:cNvSpPr txBox="1"/>
          <p:nvPr/>
        </p:nvSpPr>
        <p:spPr>
          <a:xfrm>
            <a:off x="7058025" y="4112716"/>
            <a:ext cx="3505200" cy="567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D2R_Urban_m</a:t>
            </a:r>
            <a:r>
              <a:rPr b="0" i="0" lang="en-US" sz="13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Distancia a red de calles urbanas estándar.</a:t>
            </a:r>
            <a:endParaRPr/>
          </a:p>
        </p:txBody>
      </p:sp>
      <p:pic>
        <p:nvPicPr>
          <p:cNvPr descr="image.png" id="170" name="Google Shape;170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66775" y="20145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1" name="Google Shape;171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66775" y="2999333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2" name="Google Shape;172;p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66775" y="3709838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3" name="Google Shape;173;p1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66775" y="4420344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4" name="Google Shape;174;p1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66775" y="5405139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5" name="Google Shape;175;p18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677025" y="2014537"/>
            <a:ext cx="2381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6" name="Google Shape;176;p18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6677025" y="2725042"/>
            <a:ext cx="1428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7" name="Google Shape;177;p18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6677025" y="3435548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8" name="Google Shape;178;p18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6677025" y="4146053"/>
            <a:ext cx="23812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18"/>
          <p:cNvSpPr txBox="1"/>
          <p:nvPr/>
        </p:nvSpPr>
        <p:spPr>
          <a:xfrm>
            <a:off x="571500" y="571500"/>
            <a:ext cx="1160145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300" u="none" cap="none" strike="noStrike">
                <a:solidFill>
                  <a:srgbClr val="0F172A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Las 9 Variables </a:t>
            </a:r>
            <a:r>
              <a:rPr b="0" i="0" lang="en-US" sz="3300" u="none" cap="none" strike="noStrike">
                <a:solidFill>
                  <a:srgbClr val="0EA5E9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Predictoras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4" name="Google Shape;18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5" name="Google Shape;185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695450"/>
            <a:ext cx="5286375" cy="3990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6" name="Google Shape;186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34125" y="1971675"/>
            <a:ext cx="5286375" cy="1019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7" name="Google Shape;187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34125" y="3181350"/>
            <a:ext cx="5286375" cy="1019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8" name="Google Shape;188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334125" y="4391025"/>
            <a:ext cx="5286375" cy="1019175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9"/>
          <p:cNvSpPr txBox="1"/>
          <p:nvPr/>
        </p:nvSpPr>
        <p:spPr>
          <a:xfrm>
            <a:off x="1047750" y="2171700"/>
            <a:ext cx="4550568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Robustez y Precisión</a:t>
            </a:r>
            <a:endParaRPr/>
          </a:p>
        </p:txBody>
      </p:sp>
      <p:sp>
        <p:nvSpPr>
          <p:cNvPr id="190" name="Google Shape;190;p19"/>
          <p:cNvSpPr txBox="1"/>
          <p:nvPr/>
        </p:nvSpPr>
        <p:spPr>
          <a:xfrm>
            <a:off x="1047750" y="2743200"/>
            <a:ext cx="4333875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El algoritmo XGBoost ha demostrado una capacidad superior para capturar las interacciones no lineales entre las 9 variables de morfología urbana, cobertura y distancia.</a:t>
            </a:r>
            <a:endParaRPr/>
          </a:p>
        </p:txBody>
      </p:sp>
      <p:sp>
        <p:nvSpPr>
          <p:cNvPr id="191" name="Google Shape;191;p19"/>
          <p:cNvSpPr txBox="1"/>
          <p:nvPr/>
        </p:nvSpPr>
        <p:spPr>
          <a:xfrm>
            <a:off x="1047750" y="4152900"/>
            <a:ext cx="43338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* </a:t>
            </a:r>
            <a:r>
              <a:rPr i="1" lang="en-US" sz="15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Además</a:t>
            </a:r>
            <a:r>
              <a:rPr i="1" lang="en-US" sz="15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con un peso solo de 23MB</a:t>
            </a:r>
            <a:endParaRPr/>
          </a:p>
        </p:txBody>
      </p:sp>
      <p:sp>
        <p:nvSpPr>
          <p:cNvPr id="192" name="Google Shape;192;p19"/>
          <p:cNvSpPr txBox="1"/>
          <p:nvPr/>
        </p:nvSpPr>
        <p:spPr>
          <a:xfrm>
            <a:off x="6677025" y="2219325"/>
            <a:ext cx="16956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125" u="none" cap="none" strike="noStrike">
                <a:solidFill>
                  <a:srgbClr val="EA580C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0.832</a:t>
            </a:r>
            <a:endParaRPr/>
          </a:p>
        </p:txBody>
      </p:sp>
      <p:sp>
        <p:nvSpPr>
          <p:cNvPr id="193" name="Google Shape;193;p19"/>
          <p:cNvSpPr txBox="1"/>
          <p:nvPr/>
        </p:nvSpPr>
        <p:spPr>
          <a:xfrm>
            <a:off x="9563100" y="2246114"/>
            <a:ext cx="1714500" cy="4702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25" u="none" cap="none" strike="noStrike">
                <a:solidFill>
                  <a:srgbClr val="47556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COEFICIENTE R² SCORE</a:t>
            </a:r>
            <a:endParaRPr/>
          </a:p>
        </p:txBody>
      </p:sp>
      <p:sp>
        <p:nvSpPr>
          <p:cNvPr id="194" name="Google Shape;194;p19"/>
          <p:cNvSpPr txBox="1"/>
          <p:nvPr/>
        </p:nvSpPr>
        <p:spPr>
          <a:xfrm>
            <a:off x="6677025" y="3429000"/>
            <a:ext cx="18573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125" u="none" cap="none" strike="noStrike">
                <a:solidFill>
                  <a:srgbClr val="EA580C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1.633°C</a:t>
            </a:r>
            <a:endParaRPr/>
          </a:p>
        </p:txBody>
      </p:sp>
      <p:sp>
        <p:nvSpPr>
          <p:cNvPr id="195" name="Google Shape;195;p19"/>
          <p:cNvSpPr txBox="1"/>
          <p:nvPr/>
        </p:nvSpPr>
        <p:spPr>
          <a:xfrm>
            <a:off x="10020300" y="3573363"/>
            <a:ext cx="1257300" cy="2351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25" u="none" cap="none" strike="noStrike">
                <a:solidFill>
                  <a:srgbClr val="47556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ERROR RMSE</a:t>
            </a:r>
            <a:endParaRPr/>
          </a:p>
        </p:txBody>
      </p:sp>
      <p:sp>
        <p:nvSpPr>
          <p:cNvPr id="196" name="Google Shape;196;p19"/>
          <p:cNvSpPr txBox="1"/>
          <p:nvPr/>
        </p:nvSpPr>
        <p:spPr>
          <a:xfrm>
            <a:off x="6677025" y="4638675"/>
            <a:ext cx="1752600" cy="6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4125" u="none" cap="none" strike="noStrike">
                <a:solidFill>
                  <a:srgbClr val="EA580C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1.149°C</a:t>
            </a:r>
            <a:endParaRPr/>
          </a:p>
        </p:txBody>
      </p:sp>
      <p:sp>
        <p:nvSpPr>
          <p:cNvPr id="197" name="Google Shape;197;p19"/>
          <p:cNvSpPr txBox="1"/>
          <p:nvPr/>
        </p:nvSpPr>
        <p:spPr>
          <a:xfrm>
            <a:off x="9563100" y="4665464"/>
            <a:ext cx="1714500" cy="4702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25" u="none" cap="none" strike="noStrike">
                <a:solidFill>
                  <a:srgbClr val="47556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ERROR MEDIO (MAE)</a:t>
            </a:r>
            <a:endParaRPr/>
          </a:p>
        </p:txBody>
      </p:sp>
      <p:sp>
        <p:nvSpPr>
          <p:cNvPr id="198" name="Google Shape;198;p19"/>
          <p:cNvSpPr txBox="1"/>
          <p:nvPr/>
        </p:nvSpPr>
        <p:spPr>
          <a:xfrm>
            <a:off x="571500" y="571500"/>
            <a:ext cx="1160145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300" u="none" cap="none" strike="noStrike">
                <a:solidFill>
                  <a:srgbClr val="0F172A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Modelo Ganador: </a:t>
            </a:r>
            <a:r>
              <a:rPr b="0" i="0" lang="en-US" sz="3300" u="none" cap="none" strike="noStrike">
                <a:solidFill>
                  <a:srgbClr val="0EA5E9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XGBoost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3" name="Google Shape;20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4" name="Google Shape;204;p20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191000" y="4347120"/>
            <a:ext cx="3810000" cy="447675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0"/>
          <p:cNvSpPr txBox="1"/>
          <p:nvPr/>
        </p:nvSpPr>
        <p:spPr>
          <a:xfrm>
            <a:off x="4062412" y="2063055"/>
            <a:ext cx="4067175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250" u="none" cap="none" strike="noStrike">
                <a:solidFill>
                  <a:srgbClr val="EA580C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DEMO</a:t>
            </a:r>
            <a:endParaRPr/>
          </a:p>
        </p:txBody>
      </p:sp>
      <p:sp>
        <p:nvSpPr>
          <p:cNvPr id="206" name="Google Shape;206;p20"/>
          <p:cNvSpPr txBox="1"/>
          <p:nvPr/>
        </p:nvSpPr>
        <p:spPr>
          <a:xfrm>
            <a:off x="2200275" y="3491805"/>
            <a:ext cx="7791450" cy="4266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Prueba el simulador interactivo de intervenciones sostenibles</a:t>
            </a:r>
            <a:endParaRPr/>
          </a:p>
        </p:txBody>
      </p:sp>
      <p:pic>
        <p:nvPicPr>
          <p:cNvPr descr="image.png" id="207" name="Google Shape;207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214137" y="2405530"/>
            <a:ext cx="666750" cy="666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